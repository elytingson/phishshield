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PHISHSHIELD  |  AIM CAPSTONE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424160" y="65379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Chapters 1–5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1051560"/>
            <a:ext cx="3749040" cy="4343400"/>
          </a:xfrm>
          <a:prstGeom prst="roundRect">
            <a:avLst>
              <a:gd name="adj" fmla="val 2927"/>
            </a:avLst>
          </a:prstGeom>
          <a:solidFill>
            <a:srgbClr val="102A44"/>
          </a:solidFill>
          <a:ln w="12700">
            <a:solidFill>
              <a:srgbClr val="2B54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1812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https://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73252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secure-login.example/verify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18120" y="1965960"/>
            <a:ext cx="2743200" cy="0"/>
          </a:xfrm>
          <a:prstGeom prst="line">
            <a:avLst/>
          </a:prstGeom>
          <a:noFill/>
          <a:ln w="12700">
            <a:solidFill>
              <a:srgbClr val="3551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2331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DD2"/>
                </a:solidFill>
              </a:rPr>
              <a:t>RISK SCORE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18120" y="267004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0.93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818120" y="342900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34655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</a:rPr>
              <a:t>HIGH RISK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818120" y="3977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7F3"/>
                </a:solidFill>
              </a:rPr>
              <a:t>Top factors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7F3"/>
                </a:solidFill>
              </a:rPr>
              <a:t>• unusual punctuation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7F3"/>
                </a:solidFill>
              </a:rPr>
              <a:t>• long path / query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7F3"/>
                </a:solidFill>
              </a:rPr>
              <a:t>• low lexical trust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14173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PHISHSHIELD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49808" y="21214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6B6D4"/>
                </a:solidFill>
              </a:rPr>
              <a:t>Business-Facing Capstone Presentation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9808" y="27432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F0F8"/>
                </a:solidFill>
              </a:rPr>
              <a:t>A safer way to prioritise suspicious URLs before users click.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9808" y="374904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0DF"/>
                </a:solidFill>
              </a:rPr>
              <a:t>Decision support for cybersecurity teams — fast, explainable and designed to minimise disruption to legitimate activity.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49808" y="6035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DD2"/>
                </a:solidFill>
              </a:rPr>
              <a:t>Chapters 1–5  |  AIM Capstone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The Business Problem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screening is a prioritisation problem — not just a classification problem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6696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0704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Today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1664208"/>
            <a:ext cx="2971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182880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High URL volume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" y="2167128"/>
            <a:ext cx="26426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Links arrive through email, messaging and collaboration channels. Manual inspection does not scale.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3886200" y="1664208"/>
            <a:ext cx="2971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0792" y="182880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Cost of false alarms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50792" y="2167128"/>
            <a:ext cx="26426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Blocking legitimate links disrupts work and erodes trust in security controls.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7086600" y="1664208"/>
            <a:ext cx="2971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51192" y="182880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Human bottleneck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51192" y="2167128"/>
            <a:ext cx="26426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Analysts need prioritisation, not another opaque alert stream.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68580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Business objective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4114800"/>
            <a:ext cx="9372600" cy="1188720"/>
          </a:xfrm>
          <a:prstGeom prst="roundRect">
            <a:avLst>
              <a:gd name="adj" fmla="val 6154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443984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Estimate phishing risk before access, rank suspicious links for review, and preserve legitimate user activity.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08760" y="544068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E8FAF5"/>
          </a:solidFill>
          <a:ln w="12700">
            <a:solidFill>
              <a:srgbClr val="E8FA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08760" y="54772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Pre-click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880360" y="5440680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54772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Explainable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34840" y="544068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54772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Risk-based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897880" y="54406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54772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Human-supported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635240" y="544068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35240" y="54772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Fast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How PhishShield Works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lightweight pre-click scoring flow for analyst triage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6696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0704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15544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171907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1. Submit URL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" y="2057400"/>
            <a:ext cx="1636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A suspicious link enters the screening workflow.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2788920" y="2057400"/>
            <a:ext cx="411480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5544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171907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2. Extract signals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56432" y="2057400"/>
            <a:ext cx="1636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Local URL features: length, punctuation, path, entropy, HTTPS/IP, tokens.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5394960" y="2057400"/>
            <a:ext cx="411480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5544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171907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3. Score risk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62472" y="2057400"/>
            <a:ext cx="1636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Champion model estimates phishing probability.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001000" y="2057400"/>
            <a:ext cx="411480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0" y="15544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68512" y="171907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4. Explain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68512" y="2057400"/>
            <a:ext cx="1636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Show risk tier and top contributing factors.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10607040" y="2057400"/>
            <a:ext cx="411480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45952" y="1554480"/>
            <a:ext cx="777240" cy="14630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10544" y="1719072"/>
            <a:ext cx="448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210544" y="2057400"/>
            <a:ext cx="448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Review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6858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Why the URL-only path matters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" y="4069080"/>
            <a:ext cx="51206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No need to visit an unknown webpage before scoring.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Fast enough for interactive security workflows.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Easier to explain and operationalise.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Keeps human analysts in control of high-risk decisions.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3931920"/>
            <a:ext cx="4343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4206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Recommended deployment principle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75120" y="4617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Use the model as a triage assistant — not as an autonomous blocking authority.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What the Model Learned From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large public phishing dataset, transformed into two practical modelling views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6696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0704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1371600"/>
            <a:ext cx="2377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137160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5361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235,795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19751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URLs / webpages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22860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UCI PhiUSIIL dataset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3246120" y="1371600"/>
            <a:ext cx="2377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371600"/>
            <a:ext cx="73152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361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42.81%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474720" y="19751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Phishing records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74720" y="22860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100,945 positive-class cases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806440" y="1371600"/>
            <a:ext cx="2377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06440" y="1371600"/>
            <a:ext cx="73152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15361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42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035040" y="19751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URL-only predictors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35040" y="22860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Safe pre-click model view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8366760" y="1371600"/>
            <a:ext cx="2377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137160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0" y="15361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90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595360" y="19751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Full numeric predictors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95360" y="22860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Analytical upper bound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685800" y="3246120"/>
            <a:ext cx="4892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341071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URL-only experiment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392" y="3749040"/>
            <a:ext cx="45628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Signals available before opening the page: URL length, punctuation, digits, subdomains, HTTPS/IP indicators, entropy and suspicious terms.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5897880" y="3246120"/>
            <a:ext cx="4892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62472" y="341071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Full-feature experiment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62472" y="3749040"/>
            <a:ext cx="45628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Adds webpage-derived characteristics. Useful for comparison, but not automatically suitable for safe pre-click production.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685800" y="5074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Evaluation safeguard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240280" y="504748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Train / validation / test data were separated by normalized domain to reduce optimistic leakage from related websites.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Performance Headline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pre-click model is already strong; the full-feature model is best treated as a benchmark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6696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0704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132588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E8FAF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URL-only champion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19933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Logistic Regression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60120" y="26517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265176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28163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0.9988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88720" y="32552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Test PR-AUC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88720" y="35661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Primary metric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3108960" y="26517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08960" y="2651760"/>
            <a:ext cx="73152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8163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97.69%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337560" y="32552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Phishing recall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37560" y="35661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335 misses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960120" y="406908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60120" y="4069080"/>
            <a:ext cx="73152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42336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100%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188720" y="46725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Precision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0 false positives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3108960" y="406908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08960" y="4069080"/>
            <a:ext cx="73152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42336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0.9883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3337560" y="46725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F1 score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37560" y="4983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Locked test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5989320" y="132588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EAF2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Full-feature champion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63640" y="19933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Random Forest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6263640" y="26517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63640" y="265176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28163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1.0000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492240" y="32552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Test PR-AUC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92240" y="35661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Upper bound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8412480" y="26517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412480" y="2651760"/>
            <a:ext cx="73152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41080" y="28163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100%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8641080" y="32552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Recall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641080" y="35661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0 misses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6263640" y="406908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63640" y="4069080"/>
            <a:ext cx="73152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42336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100%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6492240" y="46725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Precision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492240" y="4983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0 false positives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8412480" y="406908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412480" y="4069080"/>
            <a:ext cx="73152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41080" y="42336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1.0000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8641080" y="46725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F1 score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641080" y="4983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Inside PhiUSIIL</a:t>
            </a:r>
            <a:endParaRPr lang="en-US" sz="860" dirty="0"/>
          </a:p>
        </p:txBody>
      </p:sp>
      <p:sp>
        <p:nvSpPr>
          <p:cNvPr id="60" name="Text 58"/>
          <p:cNvSpPr/>
          <p:nvPr/>
        </p:nvSpPr>
        <p:spPr>
          <a:xfrm>
            <a:off x="594360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Locked test results from the Chapter 5 audit notebook; full-feature performance requires external validation.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The Real Business Decision Is the Threshold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sensitivity and user disruption can be tuned to operating priorities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6696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0704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URL-only operating points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1783080"/>
            <a:ext cx="58521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9659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Conservative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011680" y="19751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Threshold 0.9969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3657600" y="1965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Recall 97.69%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FPR 0.0000%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0" y="22951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Precision 100.00%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685800" y="3017520"/>
            <a:ext cx="58521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2004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Balanced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011680" y="32095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Threshold 0.7477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3657600" y="3200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Recall 99.26%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200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FPR 0.0049%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0" y="35295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Precision 99.99%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85800" y="4251960"/>
            <a:ext cx="58521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4348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Recall-first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011680" y="44439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Threshold 0.4984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3657600" y="4434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Recall 99.32%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FPR 0.0099%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0" y="47640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Precision 99.99%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995160" y="1783080"/>
            <a:ext cx="3794760" cy="3429000"/>
          </a:xfrm>
          <a:prstGeom prst="roundRect">
            <a:avLst>
              <a:gd name="adj" fmla="val 2667"/>
            </a:avLst>
          </a:prstGeom>
          <a:solidFill>
            <a:srgbClr val="FFF7E6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Business implication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0" y="26060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At the current conservative threshold, the model produces no false positives but misses 335 phishing URLs in the test set.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0" y="3657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Lowering the threshold to ~0.50 increases recall to 99.32% while keeping precision ≈ 99.99% and FPR ≈ 0.0099%.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0" y="47091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→ Set the threshold to match organisational risk appetite.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What an Analyst Should See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 turns a score into an actionable security review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6696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0704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" y="1371600"/>
            <a:ext cx="49377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1691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Submitted URL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2011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https://example-login/verify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606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Risk score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8803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0.93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2423160" y="297180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300837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</a:rPr>
              <a:t>HIGH RISK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51560" y="3703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Top contributing factors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1560" y="406908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unusual punctuation pattern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high digit / letter ratio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long path / query structure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weak lexical characteristics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Why this matters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1828800"/>
            <a:ext cx="466344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Analysts can understand why a URL was prioritised.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Local explanations help investigate false negatives and borderline cases.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Risk tiers support queue prioritisation instead of binary automation.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Model explanations create an audit trail for governance and model review.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4572000"/>
            <a:ext cx="4297680" cy="960120"/>
          </a:xfrm>
          <a:prstGeom prst="roundRect">
            <a:avLst>
              <a:gd name="adj" fmla="val 5714"/>
            </a:avLst>
          </a:prstGeom>
          <a:solidFill>
            <a:srgbClr val="F3EE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800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Explainability methods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29400" y="51023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SHAP • LIME • PDP / ICE • permutation importance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Responsible AI &amp; Governance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performance does not remove the need for controls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6696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0704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1261872"/>
            <a:ext cx="10241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1261872"/>
            <a:ext cx="73152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1417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Automation bias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80360" y="1417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Users may treat the model as definitive truth.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89520" y="1417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Risk tiers + human review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2221992"/>
            <a:ext cx="10241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221992"/>
            <a:ext cx="7315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2377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Concept drift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80360" y="2377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Attackers change URL patterns and infrastructure.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89520" y="2377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Monitor + retrain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3182112"/>
            <a:ext cx="10241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182112"/>
            <a:ext cx="73152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3337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Dataset dependence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880360" y="33375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Perfect full-feature results may not generalise.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9520" y="3337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External validation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" y="4142232"/>
            <a:ext cx="10241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142232"/>
            <a:ext cx="73152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297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Feature mismatch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880360" y="4297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Webpage-derived inputs may be unsafe pre-click.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89520" y="4297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Prefer URL-only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5800" y="5102352"/>
            <a:ext cx="10241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5102352"/>
            <a:ext cx="73152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257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Operational bias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880360" y="5257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Recall can vary across technical subgroups.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89520" y="5257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Subgroup monitoring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5800" y="5897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64748B"/>
                </a:solidFill>
              </a:rPr>
              <a:t>Fairness note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1783080" y="584301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The dataset contains URLs, not people. Demographic fairness cannot be claimed; the audit therefore focuses on operational subgroups such as HTTPS, URL length, TLD frequency and lexical complexity.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Business Value &amp; Deployment Roadmap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value through security operations — not invented cost savings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6696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0704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261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Operational KPIs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169164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1691640"/>
            <a:ext cx="73152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856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↑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22951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Phishing detected / 1,000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2606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Detection effectiveness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3154680" y="169164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69164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856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↓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383280" y="22951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Legitimate URLs flagged / 1,000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3280" y="2606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User disruption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85800" y="32004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320040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364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↓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14400" y="38039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Manual review volume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4400" y="4114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 fixed phishing recall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3154680" y="32004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54680" y="320040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364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↓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3383280" y="38039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Analyst queue time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383280" y="4114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Prioritise high-risk links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6080760" y="1261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Deployment path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26480" y="176479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185623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12280" y="17282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Pilot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046720" y="17282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Shadow scoring + analyst feedback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6126480" y="2724912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8163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12280" y="268833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Calibrate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046720" y="26883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Set threshold / risk tiers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6126480" y="368503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37764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12280" y="364845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Monitor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046720" y="36484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Drift, recall, FPR, latency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6126480" y="464515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473659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12280" y="460857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Scale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046720" y="46085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Integrate API + model registry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6126480" y="56692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Success = fewer missed phishing URLs + fewer unnecessary blocks + less manual inspection.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Executive Recommendation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Proceed with a controlled URL-only pilot — not autonomous blocking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6696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0704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" y="1325880"/>
            <a:ext cx="10241280" cy="1234440"/>
          </a:xfrm>
          <a:prstGeom prst="roundRect">
            <a:avLst>
              <a:gd name="adj" fmla="val 740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1682496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Deploy the URL-only Logistic Regression model as a risk-scoring assistant, with calibrated thresholds, explanations and analyst review.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68680" y="3063240"/>
            <a:ext cx="33375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227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Pilot safely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35204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Score URLs without visiting them.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4572000" y="3063240"/>
            <a:ext cx="33375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227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Tune to risk appetite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35204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Choose threshold based on recall vs false alarms.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8275320" y="3063240"/>
            <a:ext cx="33375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3227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Keep humans in control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58200" y="35204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Use risk tiers and analyst review.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68680" y="4297680"/>
            <a:ext cx="33375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44622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Validate externally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51560" y="47548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Test beyond PhiUSIIL before broad rollout.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4572000" y="4297680"/>
            <a:ext cx="33375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4622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Monitor continuously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54880" y="47548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Track drift, subgroup gaps and model version.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868680" y="56235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Bottom line: PhishShield is technically strong enough to justify a controlled pilot, but responsible deployment depends on threshold policy, human oversight and external validation.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Asian Institute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PhishShield</dc:title>
  <dc:subject>PhishShield Capstone Project</dc:subject>
  <dc:creator>OpenAI</dc:creator>
  <cp:lastModifiedBy>OpenAI</cp:lastModifiedBy>
  <cp:revision>1</cp:revision>
  <dcterms:created xsi:type="dcterms:W3CDTF">2026-09-14T02:52:43Z</dcterms:created>
  <dcterms:modified xsi:type="dcterms:W3CDTF">2026-09-14T02:52:43Z</dcterms:modified>
</cp:coreProperties>
</file>