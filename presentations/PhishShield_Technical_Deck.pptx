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PHISHSHIELD  |  AIM CAPSTONE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424160" y="65379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Chapters 1–5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7863840" y="822960"/>
            <a:ext cx="3474720" cy="3474720"/>
          </a:xfrm>
          <a:prstGeom prst="arc">
            <a:avLst/>
          </a:prstGeom>
          <a:solidFill>
            <a:srgbClr val="0B1F33">
              <a:alpha val="0"/>
            </a:srgbClr>
          </a:solidFill>
          <a:ln w="25400">
            <a:solidFill>
              <a:srgbClr val="06B6D4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8200" y="1463040"/>
            <a:ext cx="2194560" cy="2331720"/>
          </a:xfrm>
          <a:prstGeom prst="hexagon">
            <a:avLst/>
          </a:prstGeom>
          <a:solidFill>
            <a:srgbClr val="2563EB">
              <a:alpha val="95000"/>
            </a:srgbClr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79408" y="196596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✓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85800" y="1280160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</a:rPr>
              <a:t>PHISHSHIELD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713232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6B6D4"/>
                </a:solidFill>
              </a:rPr>
              <a:t>Technical Capstone Presentation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3232" y="260604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CE7F3"/>
                </a:solidFill>
              </a:rPr>
              <a:t>Explainable and calibrated machine learning for pre-click phishing URL detection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13232" y="3703320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E8FAF5"/>
          </a:solidFill>
          <a:ln w="12700">
            <a:solidFill>
              <a:srgbClr val="E8FA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37398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URL-only deployment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78608" y="3703320"/>
            <a:ext cx="187452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373989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Full-feature benchmark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90288" y="37033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0288" y="37398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Explainable AI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13232" y="47091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DD2"/>
                </a:solidFill>
              </a:rPr>
              <a:t>Chapters 1–5  |  PhiUSIIL dataset  |  Domain-grouped evaluation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13232" y="60807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DD2"/>
                </a:solidFill>
              </a:rPr>
              <a:t>Asian Institute of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Problem Definition &amp; Research Design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1 — from security pain point to measurable ML decision support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04672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Ch1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68680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32688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96696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60704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Ch5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40080" y="141732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651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1581912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Business problem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" y="1920240"/>
            <a:ext cx="21396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URLs arrive through email, chat and other channels. Manual inspection does not scale, while false blocking disrupts legitimate activity.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3246120" y="2084832"/>
            <a:ext cx="411480" cy="41148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040" y="141732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651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13632" y="1581912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Data-science task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13632" y="1920240"/>
            <a:ext cx="21396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Supervised binary classification. Positive class = phishing. Output = probability, class, risk tier and explanation.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6355080" y="2084832"/>
            <a:ext cx="411480" cy="41148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0" y="141732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651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22592" y="1581912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Operational decision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22592" y="1920240"/>
            <a:ext cx="21396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Prioritise suspicious links for analyst review before access. Support humans — do not autonomously declare a URL safe.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9464040" y="2084832"/>
            <a:ext cx="411480" cy="41148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66960" y="1417320"/>
            <a:ext cx="1554480" cy="17373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651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31552" y="1581912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Primary metric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131552" y="1920240"/>
            <a:ext cx="12252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PR-AUC / Average Precision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777240" y="3703320"/>
            <a:ext cx="23774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50800" dir="2700000">
              <a:srgbClr val="B8C2CC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77240" y="3703320"/>
            <a:ext cx="73152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" y="386791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PR-AUC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005840" y="430682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Primary model metric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05840" y="46177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Best fit for positive-class retrieval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3383280" y="3703320"/>
            <a:ext cx="23774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50800" dir="2700000">
              <a:srgbClr val="B8C2CC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383280" y="3703320"/>
            <a:ext cx="73152" cy="1325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11880" y="386791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Recall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3611880" y="430682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Security sensitivity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611880" y="46177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How many phishing URLs are detected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5989320" y="3703320"/>
            <a:ext cx="23774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50800" dir="2700000">
              <a:srgbClr val="B8C2CC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989320" y="3703320"/>
            <a:ext cx="7315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386791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FPR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6217920" y="430682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Legitimate disruption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217920" y="46177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How often legitimate URLs are flagged</a:t>
            </a:r>
            <a:endParaRPr lang="en-US" sz="860" dirty="0"/>
          </a:p>
        </p:txBody>
      </p:sp>
      <p:sp>
        <p:nvSpPr>
          <p:cNvPr id="44" name="Shape 42"/>
          <p:cNvSpPr/>
          <p:nvPr/>
        </p:nvSpPr>
        <p:spPr>
          <a:xfrm>
            <a:off x="8595360" y="3703320"/>
            <a:ext cx="23774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50800" dir="2700000">
              <a:srgbClr val="B8C2CC">
                <a:alpha val="1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595360" y="3703320"/>
            <a:ext cx="73152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823960" y="386791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Latency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8823960" y="430682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Operational usability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823960" y="46177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Interactive screening must remain fast</a:t>
            </a:r>
            <a:endParaRPr lang="en-US" sz="860" dirty="0"/>
          </a:p>
        </p:txBody>
      </p:sp>
      <p:sp>
        <p:nvSpPr>
          <p:cNvPr id="49" name="Text 47"/>
          <p:cNvSpPr/>
          <p:nvPr/>
        </p:nvSpPr>
        <p:spPr>
          <a:xfrm>
            <a:off x="594360" y="6236208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64748B"/>
                </a:solidFill>
              </a:rPr>
              <a:t>Project scope: PhishShield capstone blueprint and Chapters 1–5 analysis.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Dataset, Target &amp; Leakage-Aware Split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Chapters 2–3 — PhiUSIIL data preparation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04672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68680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32688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Ch3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96696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60704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Ch5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40080" y="1325880"/>
            <a:ext cx="24231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50800" dir="2700000">
              <a:srgbClr val="B8C2CC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1325880"/>
            <a:ext cx="73152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149047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235,795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68680" y="19293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URL / webpage records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8680" y="22402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Public UCI PhiUSIIL dataset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3246120" y="1325880"/>
            <a:ext cx="24231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50800" dir="2700000">
              <a:srgbClr val="B8C2CC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1325880"/>
            <a:ext cx="73152" cy="1325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49047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54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474720" y="19293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Published features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74720" y="22402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URL, domain and webpage attributes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852160" y="1325880"/>
            <a:ext cx="24231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50800" dir="2700000">
              <a:srgbClr val="B8C2CC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52160" y="1325880"/>
            <a:ext cx="73152" cy="1325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149047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42.81%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080760" y="19293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Phishing prevalence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080760" y="22402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100,945 phishing records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8458200" y="1325880"/>
            <a:ext cx="24231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50800" dir="2700000">
              <a:srgbClr val="B8C2CC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58200" y="1325880"/>
            <a:ext cx="73152" cy="1325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0" y="149047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0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8686800" y="19293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Missing values reported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686800" y="22402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Independently rechecked</a:t>
            </a:r>
            <a:endParaRPr lang="en-US" sz="860" dirty="0"/>
          </a:p>
        </p:txBody>
      </p:sp>
      <p:sp>
        <p:nvSpPr>
          <p:cNvPr id="34" name="Text 32"/>
          <p:cNvSpPr/>
          <p:nvPr/>
        </p:nvSpPr>
        <p:spPr>
          <a:xfrm>
            <a:off x="685800" y="2971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Target recoding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5800" y="338328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FEF0F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6112" y="3584448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Original label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1 = legitimate   |   0 = phishing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11880" y="3657600"/>
            <a:ext cx="502920" cy="41148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51960" y="338328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80560" y="358444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Project target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is_phishing = 1 − label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498080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Domain-grouped holdout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543800" y="3703320"/>
            <a:ext cx="841248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06640" y="52395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Train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315200" y="35021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165,287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8897112" y="4814087"/>
            <a:ext cx="841248" cy="30655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759952" y="52395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Validation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668512" y="4612919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35,750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0250424" y="4822594"/>
            <a:ext cx="841248" cy="29804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113264" y="52395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Test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0021824" y="462142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34,758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452360" y="56875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No normalized domain overlap across splits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94360" y="6236208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64748B"/>
                </a:solidFill>
              </a:rPr>
              <a:t>Dataset: UCI PhiUSIIL; processed dataset contained 235,795 records and preserved domain-grouped evaluation.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Preprocessing, EDA &amp; Feature Engineering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3 — reproducible transformation from raw URL data to two modelling views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04672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68680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32688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Ch3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96696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60704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Ch5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40080" y="1325880"/>
            <a:ext cx="2240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651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1490472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Clean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" y="1828800"/>
            <a:ext cx="1911096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No missing / blank / infinite values in the audited fields.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No exact duplicate rows.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Outliers retained unless implausible; skewed count fields log-transformed.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3063240" y="1325880"/>
            <a:ext cx="2240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651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27832" y="1490472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Normalise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27832" y="1828800"/>
            <a:ext cx="1911096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URL/domain strings normalised for duplicate checks and grouping.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425 repeated URL values; 5,526 repeated domains.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One conflicting normalized URL label identified.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5486400" y="1325880"/>
            <a:ext cx="2240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651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50992" y="1490472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Engineer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50992" y="1828800"/>
            <a:ext cx="1911096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23 safe URL lexical features: length, path, query, punctuation, entropy, suspicious tokens, HTTPS/IP indicators.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Additional full-feature ratios and complexity indicators.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7909560" y="1325880"/>
            <a:ext cx="2240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74152" y="1490472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Select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74152" y="1828800"/>
            <a:ext cx="1911096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Correlation pruning, mutual information and L1 Logistic Regression.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42 URL-only numeric candidates; 90 full-feature numeric predictors.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10332720" y="1325880"/>
            <a:ext cx="1234440" cy="196596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651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97312" y="1490472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Reduce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497312" y="1828800"/>
            <a:ext cx="905256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PCA + t-SNE used diagnostically.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685800" y="3703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Applied EDA signals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5800" y="41605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Legitimate mean URL length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88920" y="4178808"/>
            <a:ext cx="2331720" cy="164592"/>
          </a:xfrm>
          <a:prstGeom prst="roundRect">
            <a:avLst>
              <a:gd name="adj" fmla="val 277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88920" y="4178808"/>
            <a:ext cx="1223220" cy="164592"/>
          </a:xfrm>
          <a:prstGeom prst="roundRect">
            <a:avLst>
              <a:gd name="adj" fmla="val 2777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415137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26.2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85800" y="45262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Phishing mean URL length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88920" y="4544568"/>
            <a:ext cx="2331720" cy="164592"/>
          </a:xfrm>
          <a:prstGeom prst="roundRect">
            <a:avLst>
              <a:gd name="adj" fmla="val 277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88920" y="4544568"/>
            <a:ext cx="2132125" cy="164592"/>
          </a:xfrm>
          <a:prstGeom prst="roundRect">
            <a:avLst>
              <a:gd name="adj" fmla="val 27778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0" y="451713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45.7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85800" y="489204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URLSimilarityIndex |corr|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88920" y="4910328"/>
            <a:ext cx="2331720" cy="164592"/>
          </a:xfrm>
          <a:prstGeom prst="roundRect">
            <a:avLst>
              <a:gd name="adj" fmla="val 277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88920" y="4910328"/>
            <a:ext cx="2005279" cy="164592"/>
          </a:xfrm>
          <a:prstGeom prst="roundRect">
            <a:avLst>
              <a:gd name="adj" fmla="val 2777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12080" y="488289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0.86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400800" y="3840480"/>
            <a:ext cx="4709160" cy="1554480"/>
          </a:xfrm>
          <a:prstGeom prst="roundRect">
            <a:avLst>
              <a:gd name="adj" fmla="val 4706"/>
            </a:avLst>
          </a:prstGeom>
          <a:solidFill>
            <a:srgbClr val="FFF7E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29400" y="40873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Leakage / deployment caution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629400" y="44348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Similarity/probability-derived features and webpage-derived attributes are high-information signals. They are retained for analysis but tested separately from the safe URL-only deployment path.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94360" y="6236208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64748B"/>
                </a:solidFill>
              </a:rPr>
              <a:t>Chapter 3 processed output: 102 columns after engineered variables and split metadata.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Model Experiment Design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4 — compare simple, nonlinear and ensemble models under the same held-out split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04672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68680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32688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96696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Ch4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60704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Ch5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85800" y="132588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14904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Dummy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0392" y="18013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No-skill baseline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89120" y="132588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53712" y="14904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Logistic Regression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53712" y="18013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Interpretable linear baseline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092440" y="132588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57032" y="14904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Decision Tree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57032" y="18013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Nonlinear rule model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246888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26334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Random Forest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50392" y="29443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Ensemble tree model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89120" y="246888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53712" y="26334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HistGradientBoosting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53712" y="29443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Boosted tabular model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092440" y="246888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57032" y="26334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Linear SVM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57032" y="29443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Margin-based comparator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5800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Two experiments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85800" y="4160520"/>
            <a:ext cx="4983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651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0392" y="4325112"/>
            <a:ext cx="4654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Experiment A — URL-only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50392" y="4663440"/>
            <a:ext cx="465429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Safe pre-click feature set; intended deployment candidate. No live webpage visit required.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5989320" y="4160520"/>
            <a:ext cx="4983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651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53912" y="4325112"/>
            <a:ext cx="4654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Experiment B — Full-feature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53912" y="4663440"/>
            <a:ext cx="465429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URL + webpage-derived attributes; treated as analytical upper bound rather than automatic production choice.</a:t>
            </a:r>
            <a:endParaRPr lang="en-US" sz="940" dirty="0"/>
          </a:p>
        </p:txBody>
      </p:sp>
      <p:sp>
        <p:nvSpPr>
          <p:cNvPr id="39" name="Text 37"/>
          <p:cNvSpPr/>
          <p:nvPr/>
        </p:nvSpPr>
        <p:spPr>
          <a:xfrm>
            <a:off x="685800" y="5669280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Not forced into the benchmark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743200" y="561441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4748B"/>
                </a:solidFill>
              </a:rPr>
              <a:t>Clustering and recommendation methods do not match the labelled binary task. XGBoost was optional but unavailable in the reported run; deep learning was not required for the engineered tabular design.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Validation Results — URL-Only Models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PR-AUC is the primary selection metric; all models evaluated on the same validation partition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04672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68680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32688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96696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Ch4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60704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Validation PR-AUC / Average Precision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17830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Dummy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834640" y="1801368"/>
            <a:ext cx="2971800" cy="164592"/>
          </a:xfrm>
          <a:prstGeom prst="roundRect">
            <a:avLst>
              <a:gd name="adj" fmla="val 277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34640" y="1801368"/>
            <a:ext cx="1286789" cy="164592"/>
          </a:xfrm>
          <a:prstGeom prst="roundRect">
            <a:avLst>
              <a:gd name="adj" fmla="val 27778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177393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0.4330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" y="235000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Decision Tree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834640" y="2368296"/>
            <a:ext cx="2971800" cy="164592"/>
          </a:xfrm>
          <a:prstGeom prst="roundRect">
            <a:avLst>
              <a:gd name="adj" fmla="val 277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34640" y="2368296"/>
            <a:ext cx="2964073" cy="164592"/>
          </a:xfrm>
          <a:prstGeom prst="roundRect">
            <a:avLst>
              <a:gd name="adj" fmla="val 2777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234086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0.9974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31520" y="291693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HistGradientBoosting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834640" y="2935224"/>
            <a:ext cx="2971800" cy="164592"/>
          </a:xfrm>
          <a:prstGeom prst="roundRect">
            <a:avLst>
              <a:gd name="adj" fmla="val 277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34640" y="2935224"/>
            <a:ext cx="2967937" cy="164592"/>
          </a:xfrm>
          <a:prstGeom prst="roundRect">
            <a:avLst>
              <a:gd name="adj" fmla="val 2777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29077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0.9987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31520" y="348386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Logistic Regression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834640" y="3502152"/>
            <a:ext cx="2971800" cy="164592"/>
          </a:xfrm>
          <a:prstGeom prst="roundRect">
            <a:avLst>
              <a:gd name="adj" fmla="val 277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34640" y="3502152"/>
            <a:ext cx="2968234" cy="164592"/>
          </a:xfrm>
          <a:prstGeom prst="roundRect">
            <a:avLst>
              <a:gd name="adj" fmla="val 2777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34747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0.9988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31520" y="405079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Random Forest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834640" y="4069080"/>
            <a:ext cx="2971800" cy="164592"/>
          </a:xfrm>
          <a:prstGeom prst="roundRect">
            <a:avLst>
              <a:gd name="adj" fmla="val 277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34640" y="4069080"/>
            <a:ext cx="2968234" cy="164592"/>
          </a:xfrm>
          <a:prstGeom prst="roundRect">
            <a:avLst>
              <a:gd name="adj" fmla="val 2777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404164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0.9988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31520" y="46177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Linear SVM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834640" y="4636008"/>
            <a:ext cx="2971800" cy="164592"/>
          </a:xfrm>
          <a:prstGeom prst="roundRect">
            <a:avLst>
              <a:gd name="adj" fmla="val 277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34640" y="4636008"/>
            <a:ext cx="2968234" cy="164592"/>
          </a:xfrm>
          <a:prstGeom prst="roundRect">
            <a:avLst>
              <a:gd name="adj" fmla="val 27778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97880" y="460857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0.9988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995160" y="150876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50800" dir="2700000">
              <a:srgbClr val="B8C2CC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995160" y="1508760"/>
            <a:ext cx="73152" cy="1280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23760" y="16733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0.9988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7223760" y="211226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Champion PR-AUC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223760" y="24231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Logistic Regression</a:t>
            </a:r>
            <a:endParaRPr lang="en-US" sz="860" dirty="0"/>
          </a:p>
        </p:txBody>
      </p:sp>
      <p:sp>
        <p:nvSpPr>
          <p:cNvPr id="44" name="Shape 42"/>
          <p:cNvSpPr/>
          <p:nvPr/>
        </p:nvSpPr>
        <p:spPr>
          <a:xfrm>
            <a:off x="9189720" y="150876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50800" dir="2700000">
              <a:srgbClr val="B8C2CC">
                <a:alpha val="1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9189720" y="1508760"/>
            <a:ext cx="73152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418320" y="16733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97.95%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9418320" y="211226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Validation recall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418320" y="24231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 selected threshold</a:t>
            </a:r>
            <a:endParaRPr lang="en-US" sz="860" dirty="0"/>
          </a:p>
        </p:txBody>
      </p:sp>
      <p:sp>
        <p:nvSpPr>
          <p:cNvPr id="49" name="Shape 47"/>
          <p:cNvSpPr/>
          <p:nvPr/>
        </p:nvSpPr>
        <p:spPr>
          <a:xfrm>
            <a:off x="6995160" y="306324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50800" dir="2700000">
              <a:srgbClr val="B8C2CC">
                <a:alpha val="1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995160" y="3063240"/>
            <a:ext cx="73152" cy="12801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23760" y="32278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100%</a:t>
            </a:r>
            <a:endParaRPr lang="en-US" sz="2400" dirty="0"/>
          </a:p>
        </p:txBody>
      </p:sp>
      <p:sp>
        <p:nvSpPr>
          <p:cNvPr id="52" name="Text 50"/>
          <p:cNvSpPr/>
          <p:nvPr/>
        </p:nvSpPr>
        <p:spPr>
          <a:xfrm>
            <a:off x="7223760" y="366674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Validation precision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223760" y="39776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 validation false positives</a:t>
            </a:r>
            <a:endParaRPr lang="en-US" sz="860" dirty="0"/>
          </a:p>
        </p:txBody>
      </p:sp>
      <p:sp>
        <p:nvSpPr>
          <p:cNvPr id="54" name="Shape 52"/>
          <p:cNvSpPr/>
          <p:nvPr/>
        </p:nvSpPr>
        <p:spPr>
          <a:xfrm>
            <a:off x="9189720" y="306324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50800" dir="2700000">
              <a:srgbClr val="B8C2CC">
                <a:alpha val="1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9189720" y="3063240"/>
            <a:ext cx="73152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418320" y="32278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0.9969</a:t>
            </a:r>
            <a:endParaRPr lang="en-US" sz="2400" dirty="0"/>
          </a:p>
        </p:txBody>
      </p:sp>
      <p:sp>
        <p:nvSpPr>
          <p:cNvPr id="57" name="Text 55"/>
          <p:cNvSpPr/>
          <p:nvPr/>
        </p:nvSpPr>
        <p:spPr>
          <a:xfrm>
            <a:off x="9418320" y="366674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Selected threshold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9418320" y="39776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Validation-based</a:t>
            </a:r>
            <a:endParaRPr lang="en-US" sz="860" dirty="0"/>
          </a:p>
        </p:txBody>
      </p:sp>
      <p:sp>
        <p:nvSpPr>
          <p:cNvPr id="59" name="Shape 57"/>
          <p:cNvSpPr/>
          <p:nvPr/>
        </p:nvSpPr>
        <p:spPr>
          <a:xfrm>
            <a:off x="6995160" y="4663440"/>
            <a:ext cx="4206240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223760" y="486460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</a:rPr>
              <a:t>Selection logic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7223760" y="515721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Choose by validation PR-AUC; use F1 as tie-breaker; set threshold on validation only. The test set remains locked until champion selection.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94360" y="6236208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64748B"/>
                </a:solidFill>
              </a:rPr>
              <a:t>Validation results from Chapter 4 model implementation. Values shown to 4 decimals.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Locked Test Performance &amp; Champion Comparison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model is not automatically the safest deployment model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04672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68680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32688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96696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Ch4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60704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1234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URL-only champion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1572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Logistic Regression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85800" y="210312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50800" dir="2700000">
              <a:srgbClr val="B8C2CC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2103120"/>
            <a:ext cx="73152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26771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0.9988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14400" y="27066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Test PR-AUC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4400" y="30175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Domain-grouped holdout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2926080" y="210312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50800" dir="2700000">
              <a:srgbClr val="B8C2CC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926080" y="2103120"/>
            <a:ext cx="73152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54680" y="226771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97.69%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154680" y="27066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Phishing recall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154680" y="30175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335 false negatives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685800" y="361188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50800" dir="2700000">
              <a:srgbClr val="B8C2CC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5800" y="3611880"/>
            <a:ext cx="73152" cy="1234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7764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100%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14400" y="42153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Precision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14400" y="45262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0 false positives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2926080" y="361188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50800" dir="2700000">
              <a:srgbClr val="B8C2CC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926080" y="3611880"/>
            <a:ext cx="73152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54680" y="37764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0.9883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3154680" y="42153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F1 score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154680" y="45262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Selected threshold = 0.996873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5623560" y="1325880"/>
            <a:ext cx="0" cy="438912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1234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Full-feature champion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126480" y="1572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Random Forest</a:t>
            </a:r>
            <a:endParaRPr lang="en-US" sz="1900" dirty="0"/>
          </a:p>
        </p:txBody>
      </p:sp>
      <p:sp>
        <p:nvSpPr>
          <p:cNvPr id="39" name="Shape 37"/>
          <p:cNvSpPr/>
          <p:nvPr/>
        </p:nvSpPr>
        <p:spPr>
          <a:xfrm>
            <a:off x="6126480" y="210312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50800" dir="2700000">
              <a:srgbClr val="B8C2CC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26480" y="2103120"/>
            <a:ext cx="73152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226771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1.0000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6355080" y="27066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Test PR-AUC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355080" y="30175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Analytical upper bound</a:t>
            </a:r>
            <a:endParaRPr lang="en-US" sz="860" dirty="0"/>
          </a:p>
        </p:txBody>
      </p:sp>
      <p:sp>
        <p:nvSpPr>
          <p:cNvPr id="44" name="Shape 42"/>
          <p:cNvSpPr/>
          <p:nvPr/>
        </p:nvSpPr>
        <p:spPr>
          <a:xfrm>
            <a:off x="8366760" y="210312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50800" dir="2700000">
              <a:srgbClr val="B8C2CC">
                <a:alpha val="1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366760" y="2103120"/>
            <a:ext cx="73152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95360" y="226771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100%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8595360" y="27066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Recall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595360" y="30175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0 false negatives</a:t>
            </a:r>
            <a:endParaRPr lang="en-US" sz="860" dirty="0"/>
          </a:p>
        </p:txBody>
      </p:sp>
      <p:sp>
        <p:nvSpPr>
          <p:cNvPr id="49" name="Shape 47"/>
          <p:cNvSpPr/>
          <p:nvPr/>
        </p:nvSpPr>
        <p:spPr>
          <a:xfrm>
            <a:off x="6126480" y="361188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50800" dir="2700000">
              <a:srgbClr val="B8C2CC">
                <a:alpha val="1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126480" y="3611880"/>
            <a:ext cx="73152" cy="1234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55080" y="37764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100%</a:t>
            </a:r>
            <a:endParaRPr lang="en-US" sz="2400" dirty="0"/>
          </a:p>
        </p:txBody>
      </p:sp>
      <p:sp>
        <p:nvSpPr>
          <p:cNvPr id="52" name="Text 50"/>
          <p:cNvSpPr/>
          <p:nvPr/>
        </p:nvSpPr>
        <p:spPr>
          <a:xfrm>
            <a:off x="6355080" y="42153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Precision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355080" y="45262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0 false positives</a:t>
            </a:r>
            <a:endParaRPr lang="en-US" sz="860" dirty="0"/>
          </a:p>
        </p:txBody>
      </p:sp>
      <p:sp>
        <p:nvSpPr>
          <p:cNvPr id="54" name="Shape 52"/>
          <p:cNvSpPr/>
          <p:nvPr/>
        </p:nvSpPr>
        <p:spPr>
          <a:xfrm>
            <a:off x="8366760" y="361188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50800" dir="2700000">
              <a:srgbClr val="B8C2CC">
                <a:alpha val="1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8366760" y="3611880"/>
            <a:ext cx="73152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595360" y="37764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1.0000</a:t>
            </a:r>
            <a:endParaRPr lang="en-US" sz="2400" dirty="0"/>
          </a:p>
        </p:txBody>
      </p:sp>
      <p:sp>
        <p:nvSpPr>
          <p:cNvPr id="57" name="Text 55"/>
          <p:cNvSpPr/>
          <p:nvPr/>
        </p:nvSpPr>
        <p:spPr>
          <a:xfrm>
            <a:off x="8595360" y="42153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F1 score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8595360" y="45262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Selected threshold = 0.308339</a:t>
            </a:r>
            <a:endParaRPr lang="en-US" sz="860" dirty="0"/>
          </a:p>
        </p:txBody>
      </p:sp>
      <p:sp>
        <p:nvSpPr>
          <p:cNvPr id="59" name="Shape 57"/>
          <p:cNvSpPr/>
          <p:nvPr/>
        </p:nvSpPr>
        <p:spPr>
          <a:xfrm>
            <a:off x="6126480" y="5120640"/>
            <a:ext cx="4297680" cy="713232"/>
          </a:xfrm>
          <a:prstGeom prst="roundRect">
            <a:avLst>
              <a:gd name="adj" fmla="val 7692"/>
            </a:avLst>
          </a:prstGeom>
          <a:solidFill>
            <a:srgbClr val="FFF7E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55080" y="53218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</a:rPr>
              <a:t>Caution: perfect performance inside PhiUSIIL ≠ proof of real-world perfection. External validation and drift monitoring remain necessary.</a:t>
            </a:r>
            <a:endParaRPr lang="en-US" sz="920" dirty="0"/>
          </a:p>
        </p:txBody>
      </p:sp>
      <p:sp>
        <p:nvSpPr>
          <p:cNvPr id="61" name="Text 59"/>
          <p:cNvSpPr/>
          <p:nvPr/>
        </p:nvSpPr>
        <p:spPr>
          <a:xfrm>
            <a:off x="594360" y="6236208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64748B"/>
                </a:solidFill>
              </a:rPr>
              <a:t>Locked test set: 34,758 observations; results from Chapter 5 notebook audit outputs.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Explainability — What Drives the Decisions?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5 — global + local explanations for the champion models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04672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68680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32688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96696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60704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Ch5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1261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URL-only permutation importance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17830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LetterRatioInURL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88920" y="1801368"/>
            <a:ext cx="2377440" cy="164592"/>
          </a:xfrm>
          <a:prstGeom prst="roundRect">
            <a:avLst>
              <a:gd name="adj" fmla="val 277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88920" y="1801368"/>
            <a:ext cx="2286146" cy="164592"/>
          </a:xfrm>
          <a:prstGeom prst="roundRect">
            <a:avLst>
              <a:gd name="adj" fmla="val 2777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7800" y="177393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0.115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85800" y="227685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Other special chars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88920" y="2295144"/>
            <a:ext cx="2377440" cy="164592"/>
          </a:xfrm>
          <a:prstGeom prst="roundRect">
            <a:avLst>
              <a:gd name="adj" fmla="val 277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88920" y="2295144"/>
            <a:ext cx="1336418" cy="164592"/>
          </a:xfrm>
          <a:prstGeom prst="roundRect">
            <a:avLst>
              <a:gd name="adj" fmla="val 2777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226771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0.067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5800" y="27706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Punctuation ratio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88920" y="2788920"/>
            <a:ext cx="2377440" cy="164592"/>
          </a:xfrm>
          <a:prstGeom prst="roundRect">
            <a:avLst>
              <a:gd name="adj" fmla="val 277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88920" y="2788920"/>
            <a:ext cx="884289" cy="164592"/>
          </a:xfrm>
          <a:prstGeom prst="roundRect">
            <a:avLst>
              <a:gd name="adj" fmla="val 2777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276148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0.045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85800" y="326440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Total punctuation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88920" y="3282696"/>
            <a:ext cx="2377440" cy="164592"/>
          </a:xfrm>
          <a:prstGeom prst="roundRect">
            <a:avLst>
              <a:gd name="adj" fmla="val 277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88920" y="3282696"/>
            <a:ext cx="763753" cy="164592"/>
          </a:xfrm>
          <a:prstGeom prst="roundRect">
            <a:avLst>
              <a:gd name="adj" fmla="val 2777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57800" y="325526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0.039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85800" y="375818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Digit ratio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88920" y="3776472"/>
            <a:ext cx="2377440" cy="164592"/>
          </a:xfrm>
          <a:prstGeom prst="roundRect">
            <a:avLst>
              <a:gd name="adj" fmla="val 277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88920" y="3776472"/>
            <a:ext cx="687338" cy="164592"/>
          </a:xfrm>
          <a:prstGeom prst="roundRect">
            <a:avLst>
              <a:gd name="adj" fmla="val 2777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57800" y="37490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0.035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85800" y="425196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Slash count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88920" y="4270248"/>
            <a:ext cx="2377440" cy="164592"/>
          </a:xfrm>
          <a:prstGeom prst="roundRect">
            <a:avLst>
              <a:gd name="adj" fmla="val 277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88920" y="4270248"/>
            <a:ext cx="447890" cy="164592"/>
          </a:xfrm>
          <a:prstGeom prst="roundRect">
            <a:avLst>
              <a:gd name="adj" fmla="val 2777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57800" y="424281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0.023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309360" y="12618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Explanation toolkit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309360" y="169164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651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73952" y="1856232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SHAP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73952" y="2194560"/>
            <a:ext cx="20025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Global and case-level contribution analysis. Contribution ≠ causation.</a:t>
            </a:r>
            <a:endParaRPr lang="en-US" sz="940" dirty="0"/>
          </a:p>
        </p:txBody>
      </p:sp>
      <p:sp>
        <p:nvSpPr>
          <p:cNvPr id="43" name="Shape 41"/>
          <p:cNvSpPr/>
          <p:nvPr/>
        </p:nvSpPr>
        <p:spPr>
          <a:xfrm>
            <a:off x="8869680" y="169164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651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034272" y="1856232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LIME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034272" y="2194560"/>
            <a:ext cx="20025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Local surrogate explanations for representative phishing / error cases.</a:t>
            </a:r>
            <a:endParaRPr lang="en-US" sz="940" dirty="0"/>
          </a:p>
        </p:txBody>
      </p:sp>
      <p:sp>
        <p:nvSpPr>
          <p:cNvPr id="46" name="Shape 44"/>
          <p:cNvSpPr/>
          <p:nvPr/>
        </p:nvSpPr>
        <p:spPr>
          <a:xfrm>
            <a:off x="6309360" y="310896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73952" y="3273552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PDP + ICE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473952" y="3611880"/>
            <a:ext cx="20025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Inspect average and per-observation response curves for influential variables.</a:t>
            </a:r>
            <a:endParaRPr lang="en-US" sz="940" dirty="0"/>
          </a:p>
        </p:txBody>
      </p:sp>
      <p:sp>
        <p:nvSpPr>
          <p:cNvPr id="49" name="Shape 47"/>
          <p:cNvSpPr/>
          <p:nvPr/>
        </p:nvSpPr>
        <p:spPr>
          <a:xfrm>
            <a:off x="8869680" y="310896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6510">
            <a:solidFill>
              <a:srgbClr val="2563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034272" y="3273552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Permutation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034272" y="3611880"/>
            <a:ext cx="20025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Model-agnostic global importance measured by PR-AUC degradation.</a:t>
            </a:r>
            <a:endParaRPr lang="en-US" sz="940" dirty="0"/>
          </a:p>
        </p:txBody>
      </p:sp>
      <p:sp>
        <p:nvSpPr>
          <p:cNvPr id="52" name="Shape 50"/>
          <p:cNvSpPr/>
          <p:nvPr/>
        </p:nvSpPr>
        <p:spPr>
          <a:xfrm>
            <a:off x="6309360" y="4617720"/>
            <a:ext cx="4892040" cy="914400"/>
          </a:xfrm>
          <a:prstGeom prst="roundRect">
            <a:avLst>
              <a:gd name="adj" fmla="val 6000"/>
            </a:avLst>
          </a:prstGeom>
          <a:solidFill>
            <a:srgbClr val="FEF0F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37960" y="4828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Full-feature concentration risk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537960" y="510235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</a:rPr>
              <a:t>URLSimilarityIndex dominated full-feature permutation importance (~0.00441 vs ~0.00004 for IsHTTPS), supporting continued ablation and external validation.</a:t>
            </a:r>
            <a:endParaRPr lang="en-US" sz="920" dirty="0"/>
          </a:p>
        </p:txBody>
      </p:sp>
      <p:sp>
        <p:nvSpPr>
          <p:cNvPr id="55" name="Text 53"/>
          <p:cNvSpPr/>
          <p:nvPr/>
        </p:nvSpPr>
        <p:spPr>
          <a:xfrm>
            <a:off x="594360" y="6236208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64748B"/>
                </a:solidFill>
              </a:rPr>
              <a:t>Explainability outputs from Chapter 5 notebook: permutation importance, SHAP, LIME, PDP and ICE.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Ethical AI, Bias Audit &amp; Threshold Trade-off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fairness is more appropriate than demographic fairness for URL records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04672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68680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32688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96696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60704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Ch5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85800" y="1325880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F3EE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1572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Demographic fairness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1883664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Not directly auditable: PhiUSIIL contains URL/webpage attributes, not gender, race, age or socioeconomic status. No synthetic demographic groups were invented.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85800" y="2788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Operational subgroup recall gaps — URL-only champion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5800" y="32461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HTTPS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88920" y="3264408"/>
            <a:ext cx="2194560" cy="164592"/>
          </a:xfrm>
          <a:prstGeom prst="roundRect">
            <a:avLst>
              <a:gd name="adj" fmla="val 277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88920" y="3264408"/>
            <a:ext cx="2092425" cy="164592"/>
          </a:xfrm>
          <a:prstGeom prst="roundRect">
            <a:avLst>
              <a:gd name="adj" fmla="val 2777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323697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4.77pp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85800" y="363931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URL length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88920" y="3657600"/>
            <a:ext cx="2194560" cy="164592"/>
          </a:xfrm>
          <a:prstGeom prst="roundRect">
            <a:avLst>
              <a:gd name="adj" fmla="val 277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88920" y="3657600"/>
            <a:ext cx="1190505" cy="164592"/>
          </a:xfrm>
          <a:prstGeom prst="roundRect">
            <a:avLst>
              <a:gd name="adj" fmla="val 2777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363016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2.71pp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85800" y="4032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Domain type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88920" y="4050792"/>
            <a:ext cx="2194560" cy="164592"/>
          </a:xfrm>
          <a:prstGeom prst="roundRect">
            <a:avLst>
              <a:gd name="adj" fmla="val 277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88920" y="4050792"/>
            <a:ext cx="1021875" cy="164592"/>
          </a:xfrm>
          <a:prstGeom prst="roundRect">
            <a:avLst>
              <a:gd name="adj" fmla="val 2777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402336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2.33pp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5800" y="442569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Subdomain depth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88920" y="4443984"/>
            <a:ext cx="2194560" cy="164592"/>
          </a:xfrm>
          <a:prstGeom prst="roundRect">
            <a:avLst>
              <a:gd name="adj" fmla="val 277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88920" y="4443984"/>
            <a:ext cx="874313" cy="164592"/>
          </a:xfrm>
          <a:prstGeom prst="roundRect">
            <a:avLst>
              <a:gd name="adj" fmla="val 2777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44165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1.99pp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85800" y="48188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Lexical complexity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88920" y="4837176"/>
            <a:ext cx="2194560" cy="164592"/>
          </a:xfrm>
          <a:prstGeom prst="roundRect">
            <a:avLst>
              <a:gd name="adj" fmla="val 277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88920" y="4837176"/>
            <a:ext cx="630190" cy="164592"/>
          </a:xfrm>
          <a:prstGeom prst="roundRect">
            <a:avLst>
              <a:gd name="adj" fmla="val 2777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74920" y="480974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1.44pp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85800" y="52120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TLD frequency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88920" y="5230368"/>
            <a:ext cx="2194560" cy="164592"/>
          </a:xfrm>
          <a:prstGeom prst="roundRect">
            <a:avLst>
              <a:gd name="adj" fmla="val 277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88920" y="5230368"/>
            <a:ext cx="128513" cy="164592"/>
          </a:xfrm>
          <a:prstGeom prst="roundRect">
            <a:avLst>
              <a:gd name="adj" fmla="val 3557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4920" y="520293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0.29pp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26480" y="1298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Threshold policy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126480" y="1737360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50800" dir="2700000">
              <a:srgbClr val="B8C2CC">
                <a:alpha val="1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26480" y="1737360"/>
            <a:ext cx="7315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5080" y="19019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97.69%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6355080" y="23408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Recall @ 0.9969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355080" y="26517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0 false positives</a:t>
            </a:r>
            <a:endParaRPr lang="en-US" sz="860" dirty="0"/>
          </a:p>
        </p:txBody>
      </p:sp>
      <p:sp>
        <p:nvSpPr>
          <p:cNvPr id="48" name="Shape 46"/>
          <p:cNvSpPr/>
          <p:nvPr/>
        </p:nvSpPr>
        <p:spPr>
          <a:xfrm>
            <a:off x="8549640" y="1737360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50800" dir="2700000">
              <a:srgbClr val="B8C2CC">
                <a:alpha val="1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549640" y="1737360"/>
            <a:ext cx="73152" cy="1325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778240" y="19019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99.32%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8778240" y="23408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Recall @ 0.4984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8778240" y="26517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Precision ≈ 99.99%</a:t>
            </a:r>
            <a:endParaRPr lang="en-US" sz="860" dirty="0"/>
          </a:p>
        </p:txBody>
      </p:sp>
      <p:sp>
        <p:nvSpPr>
          <p:cNvPr id="53" name="Text 51"/>
          <p:cNvSpPr/>
          <p:nvPr/>
        </p:nvSpPr>
        <p:spPr>
          <a:xfrm>
            <a:off x="6126480" y="3291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 lower operating threshold recovers more phishing while introducing only ~0.0099% FPR in the locked test set.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126480" y="3977640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6510">
            <a:solidFill>
              <a:srgbClr val="2563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91072" y="4142232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Mitigate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291072" y="4480560"/>
            <a:ext cx="181965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Threshold review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Feature ablation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Representative data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Calibration</a:t>
            </a:r>
            <a:endParaRPr lang="en-US" sz="940" dirty="0"/>
          </a:p>
        </p:txBody>
      </p:sp>
      <p:sp>
        <p:nvSpPr>
          <p:cNvPr id="57" name="Shape 55"/>
          <p:cNvSpPr/>
          <p:nvPr/>
        </p:nvSpPr>
        <p:spPr>
          <a:xfrm>
            <a:off x="8549640" y="3977640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6510">
            <a:solidFill>
              <a:srgbClr val="7C3A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714232" y="4142232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Govern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8714232" y="4480560"/>
            <a:ext cx="181965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Risk tiers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Human review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Version logging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Drift monitoring</a:t>
            </a:r>
            <a:endParaRPr lang="en-US" sz="940" dirty="0"/>
          </a:p>
        </p:txBody>
      </p:sp>
      <p:sp>
        <p:nvSpPr>
          <p:cNvPr id="60" name="Text 58"/>
          <p:cNvSpPr/>
          <p:nvPr/>
        </p:nvSpPr>
        <p:spPr>
          <a:xfrm>
            <a:off x="594360" y="6236208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64748B"/>
                </a:solidFill>
              </a:rPr>
              <a:t>Operational subgroup and threshold sensitivity outputs from Chapter 5 notebook.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Technical Conclusions &amp; Next Steps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evidence supports a safe URL-only deployment path — with explicit controls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04672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68680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32688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96696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F2F7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Ch4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607040" y="38404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0" y="4023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Ch5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31520" y="1271016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13624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71600" y="12344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discrimination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0" y="123444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URL-only Logistic Regression reached test PR-AUC 0.9988 with zero false positives at the selected threshold.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731520" y="2203704"/>
            <a:ext cx="438912" cy="43891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29514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71600" y="21671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Safer deployment path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40480" y="216712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URL-only features can be computed without visiting potentially malicious webpages.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731520" y="3136392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22783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371600" y="30998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Full-feature = benchmark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840480" y="3099816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Perfect in-dataset performance is analytically useful but must not bypass leakage, drift and feature-availability scrutiny.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731520" y="4069080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16052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371600" y="40325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Explain before automate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840480" y="4032504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Use SHAP/LIME/PDP/ICE and expose risk factors; predictions remain decision support, not absolute truth.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731520" y="5001768"/>
            <a:ext cx="438912" cy="43891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509320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371600" y="49651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Validate externally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840480" y="4965192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Next step: independent dataset, calibration refresh, drift monitoring and controlled pilot deployment.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731520" y="5833872"/>
            <a:ext cx="10424160" cy="438912"/>
          </a:xfrm>
          <a:prstGeom prst="roundRect">
            <a:avLst>
              <a:gd name="adj" fmla="val 10417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0120" y="5961888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Recommended production candidate: URL-only Logistic Regression + calibrated risk tiers + human analyst review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Asian Institute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PhishShield</dc:title>
  <dc:subject>PhishShield Capstone Project</dc:subject>
  <dc:creator>OpenAI</dc:creator>
  <cp:lastModifiedBy>OpenAI</cp:lastModifiedBy>
  <cp:revision>1</cp:revision>
  <dcterms:created xsi:type="dcterms:W3CDTF">2026-09-14T02:52:43Z</dcterms:created>
  <dcterms:modified xsi:type="dcterms:W3CDTF">2026-09-14T02:52:43Z</dcterms:modified>
</cp:coreProperties>
</file>